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Poppins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Poppins SemiBold"/>
      <p:regular r:id="rId24"/>
      <p:bold r:id="rId25"/>
      <p:italic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  <p:embeddedFont>
      <p:font typeface="JetBrains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PoppinsSemiBold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italic.fntdata"/><Relationship Id="rId25" Type="http://schemas.openxmlformats.org/officeDocument/2006/relationships/font" Target="fonts/PoppinsSemiBold-bold.fntdata"/><Relationship Id="rId28" Type="http://schemas.openxmlformats.org/officeDocument/2006/relationships/font" Target="fonts/InterMedium-regular.fntdata"/><Relationship Id="rId27" Type="http://schemas.openxmlformats.org/officeDocument/2006/relationships/font" Target="fonts/Poppi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slide" Target="slides/slide6.xml"/><Relationship Id="rId33" Type="http://schemas.openxmlformats.org/officeDocument/2006/relationships/font" Target="fonts/JetBrainsMono-bold.fntdata"/><Relationship Id="rId10" Type="http://schemas.openxmlformats.org/officeDocument/2006/relationships/slide" Target="slides/slide5.xml"/><Relationship Id="rId32" Type="http://schemas.openxmlformats.org/officeDocument/2006/relationships/font" Target="fonts/JetBrainsMono-regular.fntdata"/><Relationship Id="rId13" Type="http://schemas.openxmlformats.org/officeDocument/2006/relationships/font" Target="fonts/InterSemiBold-bold.fntdata"/><Relationship Id="rId35" Type="http://schemas.openxmlformats.org/officeDocument/2006/relationships/font" Target="fonts/JetBrainsMono-boldItalic.fntdata"/><Relationship Id="rId12" Type="http://schemas.openxmlformats.org/officeDocument/2006/relationships/font" Target="fonts/InterSemiBold-regular.fntdata"/><Relationship Id="rId34" Type="http://schemas.openxmlformats.org/officeDocument/2006/relationships/font" Target="fonts/JetBrainsMono-italic.fntdata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18.png"/><Relationship Id="rId13" Type="http://schemas.openxmlformats.org/officeDocument/2006/relationships/image" Target="../media/image16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7875" y="1259383"/>
            <a:ext cx="21336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7875" y="3710880"/>
            <a:ext cx="8096250" cy="1887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90775" y="4773810"/>
            <a:ext cx="7410450" cy="58668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047875" y="1688008"/>
            <a:ext cx="8501062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DELIVERY ROUTE OPTIMIZATION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SYSTEM USING GRAPH ALGORITHMS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047875" y="2859583"/>
            <a:ext cx="80962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logistics application bridging graph theory and practical operations to minimize route overhead, fuel costs, and transit delays utilizing pathfinding algorithms.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390775" y="3949005"/>
            <a:ext cx="3938141" cy="63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Submitted By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T. Vinitha (Roll No: 23AK1A3256)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 S. Harsha Priya (Roll No: 23AK1A3214)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519416" y="3949005"/>
            <a:ext cx="3281808" cy="63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Degree &amp; Academic Session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B.Tech CSE (Data Science) | 2025-2026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390775" y="4926210"/>
            <a:ext cx="7410450" cy="167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INSTITUTION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390775" y="5131891"/>
            <a:ext cx="7410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Annamacharya Institute of Technology and Sciences, Tirupati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1990725"/>
            <a:ext cx="5167312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14375" y="2632025"/>
            <a:ext cx="5425678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Inefficiencies in Logistics Scheduling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14375" y="3100536"/>
            <a:ext cx="5167312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 traditional delivery processes, route tracking relies heavily on manual estimates and static scheduling. This absence of algorithmic structure leaves courier operations vulnerable to massive performance deficiencies.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14375" y="4247108"/>
            <a:ext cx="5167312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Without dynamically computed shortest paths, delivery personnel navigate redundant geographical segments, exponentially inflating operational waste.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929437" y="2333625"/>
            <a:ext cx="4415551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91B1B"/>
                </a:solidFill>
                <a:latin typeface="Poppins"/>
                <a:ea typeface="Poppins"/>
                <a:cs typeface="Poppins"/>
                <a:sym typeface="Poppins"/>
              </a:rPr>
              <a:t>Critical Logistical Cost Pain-points: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3212" y="2381250"/>
            <a:ext cx="1809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958012" y="2762250"/>
            <a:ext cx="417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Increased Transit Times:</a:t>
            </a:r>
            <a:r>
              <a:rPr b="0" i="0" lang="en-US" sz="1125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 Accumulation of redundant travel miles.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958012" y="3390900"/>
            <a:ext cx="417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Higher Fuel Consumption:</a:t>
            </a:r>
            <a:r>
              <a:rPr b="0" i="0" lang="en-US" sz="1125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 Unoptimized route paths drive vehicle wear.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958012" y="4019550"/>
            <a:ext cx="417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Delayed Deliveries:</a:t>
            </a:r>
            <a:r>
              <a:rPr b="0" i="0" lang="en-US" sz="1125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 Vulnerability to schedules shifting in-transit.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958012" y="4648200"/>
            <a:ext cx="417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Higher Operational Costs:</a:t>
            </a:r>
            <a:r>
              <a:rPr b="0" i="0" lang="en-US" sz="1125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 Skyrocketing expenditures per destination node.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14375" y="476250"/>
            <a:ext cx="1076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 Statement </a:t>
            </a:r>
            <a:r>
              <a:rPr b="0" i="0" lang="en-US" sz="24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 / 05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714375" y="962025"/>
            <a:ext cx="1076325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53212" y="2781300"/>
            <a:ext cx="171450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53212" y="3409950"/>
            <a:ext cx="171450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53212" y="4038600"/>
            <a:ext cx="171450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53212" y="4667250"/>
            <a:ext cx="171450" cy="274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1228725"/>
            <a:ext cx="10763250" cy="51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310312" y="1810940"/>
            <a:ext cx="542567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Algorithmic Logic (Dijkstra's Process)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310312" y="2287190"/>
            <a:ext cx="51673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application transforms geographic coordinate grids into weighted graph structures, assigning location points as vertices and roads as network edges.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615112" y="3163490"/>
            <a:ext cx="48625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Initialization: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Sets initial distance to 0 for start station and infinity for all other nodes.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615112" y="3822501"/>
            <a:ext cx="48625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Vertex Selection: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Sequentially evaluates the unvisited node containing the absolute minimum cost.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615112" y="4481512"/>
            <a:ext cx="48625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Relaxation Steps: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Evaluates neighboring roads and updates optimal transit distances iteratively.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615112" y="5140523"/>
            <a:ext cx="48625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Termination: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Concludes processing once all destination coordinates are evaluated.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14375" y="476250"/>
            <a:ext cx="1076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Methodology &amp; Pathfinding Approach </a:t>
            </a:r>
            <a:r>
              <a:rPr b="0" i="0" lang="en-US" sz="24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 / 05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714375" y="962025"/>
            <a:ext cx="1076325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3182540"/>
            <a:ext cx="171450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3841551"/>
            <a:ext cx="171450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4500562"/>
            <a:ext cx="171450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5159573"/>
            <a:ext cx="171450" cy="274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1995487"/>
            <a:ext cx="5167312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" y="2005012"/>
            <a:ext cx="5148262" cy="405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0" y="2410717"/>
            <a:ext cx="5148262" cy="3194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6310312" y="2809875"/>
            <a:ext cx="542567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Successful System Outputs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310312" y="3286125"/>
            <a:ext cx="51673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programmatic logs confirm that the algorithm systematically calculated and finalized the shortest path parameters between the origin node and all receiving terminals.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310312" y="4114800"/>
            <a:ext cx="51673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Instead of navigating the direct road path from A to B (cost of 4), the application uncovered an optimized indirect network path via A -&gt; C -&gt; B with a minimized total cost parameter of 3.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3814762" y="2119312"/>
            <a:ext cx="1866900" cy="167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Python Environment Code Execution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52500" y="2601217"/>
            <a:ext cx="4691062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PS C:\Users\tvinitha_harshapriya&gt; python main.py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52500" y="2908399"/>
            <a:ext cx="4691062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 Delivery Route Optimization Output --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52500" y="3196530"/>
            <a:ext cx="4691062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Shortest calculated distances from source node 'A':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52500" y="3484661"/>
            <a:ext cx="4691062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Distance to Node A : 0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52500" y="3677542"/>
            <a:ext cx="4691062" cy="196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Distance to Node B : 3 </a:t>
            </a:r>
            <a:r>
              <a:rPr b="0" i="0" lang="en-US" sz="1012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(Path: A -&gt; C -&gt; B)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52500" y="3873698"/>
            <a:ext cx="4691062" cy="196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Distance to Node C : 2 </a:t>
            </a:r>
            <a:r>
              <a:rPr b="0" i="0" lang="en-US" sz="1012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(Path: A -&gt; C)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52500" y="4069853"/>
            <a:ext cx="4691062" cy="196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Distance to Node D : 8 </a:t>
            </a:r>
            <a:r>
              <a:rPr b="0" i="0" lang="en-US" sz="1012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(Path: A -&gt; C -&gt; B -&gt; D)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952500" y="4266009"/>
            <a:ext cx="4691062" cy="196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Distance to Node E : 10 </a:t>
            </a:r>
            <a:r>
              <a:rPr b="0" i="0" lang="en-US" sz="1012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(Path: A -&gt; C -&gt; B -&gt; D -&gt; E)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914400" y="2155477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1066800" y="2155477"/>
            <a:ext cx="95250" cy="9525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1219200" y="2155477"/>
            <a:ext cx="95250" cy="9525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714375" y="476250"/>
            <a:ext cx="1076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Results &amp; Verification </a:t>
            </a:r>
            <a:r>
              <a:rPr b="0" i="0" lang="en-US" sz="24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04 / 05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714375" y="962025"/>
            <a:ext cx="1076325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4697759"/>
            <a:ext cx="10763250" cy="739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2173634"/>
            <a:ext cx="34352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78225" y="2173634"/>
            <a:ext cx="3435399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42225" y="2173634"/>
            <a:ext cx="343525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9601200" y="4962525"/>
            <a:ext cx="19702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244985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952500" y="3068984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Implementation Success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52500" y="3488084"/>
            <a:ext cx="2959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Constructed a functional, extensible delivery network routing optimizer programmed in Python.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16350" y="244985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4616350" y="3068984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Resource Conservation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4616350" y="3488084"/>
            <a:ext cx="295914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Demonstrated significant reductions in transit travel distance, lowering fleet fuel outputs.</a:t>
            </a:r>
            <a:endParaRPr/>
          </a:p>
        </p:txBody>
      </p:sp>
      <p:pic>
        <p:nvPicPr>
          <p:cNvPr descr="image.png" id="174" name="Google Shape;17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80350" y="244985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8280350" y="3068984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Practical Utility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280350" y="3488084"/>
            <a:ext cx="2959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Created a stable computational proof-of-concept linking graph algorithms with logistical automation.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714375" y="4945409"/>
            <a:ext cx="458057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Presenter Acknowledgement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714375" y="5231159"/>
            <a:ext cx="436245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T. Vinitha (23AK1A3256) &amp; S. Harsha Priya (23AK1A3214) | AITS Tirupati</a:t>
            </a:r>
            <a:endParaRPr/>
          </a:p>
        </p:txBody>
      </p:sp>
      <p:pic>
        <p:nvPicPr>
          <p:cNvPr descr="image.png" id="179" name="Google Shape;179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7275" y="2583209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63988" y="2583209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85125" y="2583209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714375" y="476250"/>
            <a:ext cx="1076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Conclusion </a:t>
            </a:r>
            <a:r>
              <a:rPr b="0" i="0" lang="en-US" sz="24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05 / 05</a:t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714375" y="962025"/>
            <a:ext cx="1076325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36098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1809750" y="3603277"/>
            <a:ext cx="96678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https://www.freecodecamp.org/news/content/images/2020/06/image-115.png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1809750" y="3848992"/>
            <a:ext cx="9667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www.freecodecamp.org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714375" y="476250"/>
            <a:ext cx="113014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714375" y="1047750"/>
            <a:ext cx="1076325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